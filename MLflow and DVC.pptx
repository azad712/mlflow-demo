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4" r:id="rId10"/>
    <p:sldId id="26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1C7FFB14-8C90-4421-9C3D-5C2326C63952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5C0D4C66-AF1F-405B-9C18-53B5ACC890B9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2720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FFB14-8C90-4421-9C3D-5C2326C63952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D4C66-AF1F-405B-9C18-53B5ACC890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7253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FFB14-8C90-4421-9C3D-5C2326C63952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D4C66-AF1F-405B-9C18-53B5ACC890B9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4014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FFB14-8C90-4421-9C3D-5C2326C63952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D4C66-AF1F-405B-9C18-53B5ACC890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9946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FFB14-8C90-4421-9C3D-5C2326C63952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D4C66-AF1F-405B-9C18-53B5ACC890B9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2289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FFB14-8C90-4421-9C3D-5C2326C63952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D4C66-AF1F-405B-9C18-53B5ACC890B9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6109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FFB14-8C90-4421-9C3D-5C2326C63952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D4C66-AF1F-405B-9C18-53B5ACC890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8450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FFB14-8C90-4421-9C3D-5C2326C63952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D4C66-AF1F-405B-9C18-53B5ACC890B9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3795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FFB14-8C90-4421-9C3D-5C2326C63952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D4C66-AF1F-405B-9C18-53B5ACC890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7529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FFB14-8C90-4421-9C3D-5C2326C63952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D4C66-AF1F-405B-9C18-53B5ACC890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2172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FFB14-8C90-4421-9C3D-5C2326C63952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D4C66-AF1F-405B-9C18-53B5ACC890B9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47483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FFB14-8C90-4421-9C3D-5C2326C63952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D4C66-AF1F-405B-9C18-53B5ACC890B9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17659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FFB14-8C90-4421-9C3D-5C2326C63952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D4C66-AF1F-405B-9C18-53B5ACC890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24382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FFB14-8C90-4421-9C3D-5C2326C63952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D4C66-AF1F-405B-9C18-53B5ACC890B9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99738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FFB14-8C90-4421-9C3D-5C2326C63952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D4C66-AF1F-405B-9C18-53B5ACC890B9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63580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FFB14-8C90-4421-9C3D-5C2326C63952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D4C66-AF1F-405B-9C18-53B5ACC890B9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48456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FFB14-8C90-4421-9C3D-5C2326C63952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D4C66-AF1F-405B-9C18-53B5ACC890B9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5791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C7FFB14-8C90-4421-9C3D-5C2326C63952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C0D4C66-AF1F-405B-9C18-53B5ACC890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9502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dvc.org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E6608-86E0-D026-99CF-C824F392C322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2053560" y="1366479"/>
            <a:ext cx="6815137" cy="1754188"/>
          </a:xfrm>
        </p:spPr>
        <p:txBody>
          <a:bodyPr>
            <a:normAutofit fontScale="90000"/>
          </a:bodyPr>
          <a:lstStyle/>
          <a:p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endParaRPr lang="en-IN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547CBD-9955-170B-A564-F916A4D5C8FD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776746" y="4624859"/>
            <a:ext cx="8288593" cy="20792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- Varun Khare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M.Sc. Statistics, </a:t>
            </a:r>
            <a:r>
              <a:rPr lang="en-US" sz="2400" b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M.Tech</a:t>
            </a:r>
            <a:r>
              <a:rPr 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. CSE ( NIT Jaipur )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Asst. Prof. AI&amp;DS Dept., CMRIT</a:t>
            </a:r>
            <a:endParaRPr lang="en-IN" sz="24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94A8AE-BE19-3148-36D1-7AD88ED65934}"/>
              </a:ext>
            </a:extLst>
          </p:cNvPr>
          <p:cNvSpPr txBox="1"/>
          <p:nvPr/>
        </p:nvSpPr>
        <p:spPr>
          <a:xfrm>
            <a:off x="943740" y="750787"/>
            <a:ext cx="6254697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DAY-2  ( 21/04/2026)</a:t>
            </a:r>
            <a:br>
              <a:rPr lang="en-US" sz="2800" b="1" dirty="0"/>
            </a:br>
            <a:r>
              <a:rPr lang="en-US" sz="2800" b="1" dirty="0" err="1"/>
              <a:t>MLOps</a:t>
            </a:r>
            <a:r>
              <a:rPr lang="en-US" sz="2800" b="1" dirty="0"/>
              <a:t> Workshop</a:t>
            </a:r>
          </a:p>
          <a:p>
            <a:endParaRPr lang="en-US" sz="2800" b="1" dirty="0"/>
          </a:p>
          <a:p>
            <a:pPr marL="0" indent="0">
              <a:buNone/>
            </a:pPr>
            <a:r>
              <a:rPr lang="en-IN" b="1" dirty="0"/>
              <a:t>Agenda :</a:t>
            </a:r>
          </a:p>
          <a:p>
            <a:pPr lvl="1"/>
            <a:r>
              <a:rPr lang="en-IN" sz="2400" dirty="0"/>
              <a:t>Data &amp; Experiment Management:</a:t>
            </a:r>
          </a:p>
          <a:p>
            <a:pPr lvl="1"/>
            <a:r>
              <a:rPr lang="en-IN" sz="2400" dirty="0"/>
              <a:t>● Data</a:t>
            </a:r>
          </a:p>
          <a:p>
            <a:pPr lvl="1"/>
            <a:r>
              <a:rPr lang="en-IN" sz="2400" dirty="0"/>
              <a:t>● </a:t>
            </a:r>
            <a:r>
              <a:rPr lang="en-IN" sz="2400" dirty="0" err="1"/>
              <a:t>MLflow</a:t>
            </a:r>
            <a:r>
              <a:rPr lang="en-IN" sz="2400" dirty="0"/>
              <a:t> / DVC</a:t>
            </a:r>
          </a:p>
          <a:p>
            <a:pPr lvl="1"/>
            <a:r>
              <a:rPr lang="en-IN" sz="2400" dirty="0"/>
              <a:t>Hands-on: Track experiments using </a:t>
            </a:r>
            <a:r>
              <a:rPr lang="en-IN" sz="2400" dirty="0" err="1"/>
              <a:t>MLflow,Log</a:t>
            </a:r>
            <a:r>
              <a:rPr lang="en-IN" sz="2400" dirty="0"/>
              <a:t> parameters, metrics, models and Dataset versioning</a:t>
            </a:r>
          </a:p>
          <a:p>
            <a:br>
              <a:rPr lang="en-US" sz="2800" b="1" dirty="0"/>
            </a:br>
            <a:endParaRPr lang="en-IN" sz="28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D0DAE4-BF4C-8121-572D-685EA0978B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6141" y="788815"/>
            <a:ext cx="2252434" cy="1570928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BD933206-EA68-D9C8-2880-FC7582510C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0912" y="4402058"/>
            <a:ext cx="3067663" cy="1185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513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82E1C-EE7F-D1C5-47ED-1DF5995CF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Challenges in Managing Machine Learning Experiments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C4B42-0DEE-D0DE-EC3F-61E79E4C9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Imagine running </a:t>
            </a:r>
            <a:r>
              <a:rPr lang="en-US" sz="32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10  ML experiments </a:t>
            </a:r>
            <a:r>
              <a:rPr lang="en-US" sz="3200" dirty="0"/>
              <a:t>with different </a:t>
            </a:r>
            <a:r>
              <a:rPr lang="en-US" sz="32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learning rates.</a:t>
            </a:r>
            <a:r>
              <a:rPr lang="en-US" sz="3200" dirty="0"/>
              <a:t> After a week, it becomes difficult to remember which one performed best.</a:t>
            </a:r>
          </a:p>
          <a:p>
            <a:r>
              <a:rPr lang="en-US" sz="3200" dirty="0"/>
              <a:t> </a:t>
            </a:r>
            <a:r>
              <a:rPr lang="en-US" sz="3200" b="1" dirty="0"/>
              <a:t>How do we organize, track, and manage machine learning experiments efficiently ???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2138864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54D6A-998B-120B-F04F-A8E068B5C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in ML </a:t>
            </a:r>
            <a:r>
              <a:rPr lang="en-US" dirty="0" err="1"/>
              <a:t>Contd</a:t>
            </a:r>
            <a:r>
              <a:rPr lang="en-US" dirty="0"/>
              <a:t>…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D4E7D-CFF7-2E98-BC25-6A9C1C0E9B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Difficult to track multiple experiments and </a:t>
            </a:r>
            <a:r>
              <a:rPr lang="en-US" b="1" dirty="0">
                <a:solidFill>
                  <a:srgbClr val="7030A0"/>
                </a:solidFill>
              </a:rPr>
              <a:t>model versions</a:t>
            </a:r>
          </a:p>
          <a:p>
            <a:r>
              <a:rPr lang="en-US" dirty="0"/>
              <a:t>Hard to remember which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hyperparameters</a:t>
            </a:r>
            <a:r>
              <a:rPr lang="en-US" dirty="0"/>
              <a:t> produced the best results</a:t>
            </a:r>
          </a:p>
          <a:p>
            <a:r>
              <a:rPr lang="en-US" dirty="0"/>
              <a:t>Metrics like </a:t>
            </a:r>
            <a:r>
              <a:rPr lang="en-US" b="1" dirty="0"/>
              <a:t>accuracy</a:t>
            </a:r>
            <a:r>
              <a:rPr lang="en-US" dirty="0"/>
              <a:t> and </a:t>
            </a:r>
            <a:r>
              <a:rPr lang="en-US" b="1" dirty="0"/>
              <a:t>loss </a:t>
            </a:r>
            <a:r>
              <a:rPr lang="en-US" dirty="0"/>
              <a:t>are scattered across notebooks/files</a:t>
            </a:r>
          </a:p>
          <a:p>
            <a:r>
              <a:rPr lang="en-US" dirty="0"/>
              <a:t>No standard way to store trained models systematically</a:t>
            </a:r>
          </a:p>
          <a:p>
            <a:r>
              <a:rPr lang="en-US" dirty="0"/>
              <a:t>Reproducing results later becomes challenging</a:t>
            </a:r>
          </a:p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Collaboration</a:t>
            </a:r>
            <a:r>
              <a:rPr lang="en-US" dirty="0"/>
              <a:t> between team members becomes confusing</a:t>
            </a:r>
          </a:p>
          <a:p>
            <a:r>
              <a:rPr lang="en-US" b="1" dirty="0">
                <a:solidFill>
                  <a:srgbClr val="0070C0"/>
                </a:solidFill>
              </a:rPr>
              <a:t>Deployment-ready models </a:t>
            </a:r>
            <a:r>
              <a:rPr lang="en-US" dirty="0"/>
              <a:t>are not easily identifiable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8737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5EF06-5DBF-B81B-D052-AC45002C5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</a:t>
            </a:r>
            <a:r>
              <a:rPr lang="en-IN" dirty="0" err="1"/>
              <a:t>MLflow</a:t>
            </a:r>
            <a:r>
              <a:rPr lang="en-IN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DFFE4-12F9-BD14-C0CE-301448758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MLflow</a:t>
            </a:r>
            <a:r>
              <a:rPr lang="en-US" dirty="0"/>
              <a:t> is an </a:t>
            </a:r>
            <a:r>
              <a:rPr lang="en-US" b="1" dirty="0"/>
              <a:t>open-source </a:t>
            </a:r>
            <a:r>
              <a:rPr lang="en-US" dirty="0"/>
              <a:t>platform for managing the </a:t>
            </a:r>
            <a:r>
              <a:rPr lang="en-US" b="1" dirty="0"/>
              <a:t>machine learning lifecycle</a:t>
            </a:r>
          </a:p>
          <a:p>
            <a:r>
              <a:rPr lang="en-US" dirty="0"/>
              <a:t>Helps track </a:t>
            </a:r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experiments, parameters, metrics, and results</a:t>
            </a:r>
          </a:p>
          <a:p>
            <a:r>
              <a:rPr lang="en-US" dirty="0"/>
              <a:t>Stores trained models along with environment details</a:t>
            </a:r>
          </a:p>
          <a:p>
            <a:r>
              <a:rPr lang="en-US" dirty="0"/>
              <a:t>Supports multiple ML frameworks like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PyTorch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, TensorFlow, and Scikit-learn</a:t>
            </a:r>
          </a:p>
          <a:p>
            <a:r>
              <a:rPr lang="en-US" dirty="0"/>
              <a:t>Provides a </a:t>
            </a:r>
            <a:r>
              <a:rPr lang="en-US" b="1" dirty="0"/>
              <a:t>web-based dashboard </a:t>
            </a:r>
            <a:r>
              <a:rPr lang="en-US" dirty="0"/>
              <a:t>to compare experiments</a:t>
            </a:r>
          </a:p>
          <a:p>
            <a:r>
              <a:rPr lang="en-US" dirty="0"/>
              <a:t>Enables </a:t>
            </a:r>
            <a:r>
              <a:rPr lang="en-US" b="1" dirty="0">
                <a:solidFill>
                  <a:srgbClr val="0070C0"/>
                </a:solidFill>
              </a:rPr>
              <a:t>reproducibility and collaboration </a:t>
            </a:r>
            <a:r>
              <a:rPr lang="en-US" dirty="0"/>
              <a:t>in ML projects</a:t>
            </a:r>
          </a:p>
          <a:p>
            <a:r>
              <a:rPr lang="en-US" dirty="0"/>
              <a:t>All of above means that </a:t>
            </a:r>
            <a:r>
              <a:rPr lang="en-US" dirty="0" err="1"/>
              <a:t>MLflow</a:t>
            </a:r>
            <a:r>
              <a:rPr lang="en-US" dirty="0"/>
              <a:t> helps us </a:t>
            </a:r>
            <a:r>
              <a:rPr lang="en-US" b="1" dirty="0"/>
              <a:t>organize, track, and manage machine learning experiments efficiently.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695915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A4C01-FA3A-4E02-02DA-2A2F72F13D6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295400" y="2154340"/>
            <a:ext cx="9601200" cy="33178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7030A0"/>
                </a:solidFill>
              </a:rPr>
              <a:t>Instead of manually writing results in notebooks, </a:t>
            </a:r>
            <a:r>
              <a:rPr lang="en-US" sz="4000" b="1" dirty="0" err="1">
                <a:solidFill>
                  <a:srgbClr val="7030A0"/>
                </a:solidFill>
              </a:rPr>
              <a:t>MLflow</a:t>
            </a:r>
            <a:r>
              <a:rPr lang="en-US" sz="4000" b="1" dirty="0">
                <a:solidFill>
                  <a:srgbClr val="7030A0"/>
                </a:solidFill>
              </a:rPr>
              <a:t> records everything automatically and shows comparisons in a dashboard.</a:t>
            </a:r>
            <a:endParaRPr lang="en-IN" sz="40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2713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21816-4316-16EA-1011-C0952109B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Hands-On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9B406-B065-8CC4-13FB-1989BC221D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https://github.com/azad712/MLFlow-demo.git</a:t>
            </a:r>
          </a:p>
        </p:txBody>
      </p:sp>
    </p:spTree>
    <p:extLst>
      <p:ext uri="{BB962C8B-B14F-4D97-AF65-F5344CB8AC3E}">
        <p14:creationId xmlns:p14="http://schemas.microsoft.com/office/powerpoint/2010/main" val="4150725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C4335-DAB2-FD44-4D8D-59221EEF7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DVC (Data Version Control)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8692C-06DA-B2C7-36C1-56D8F33BEE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i="0" dirty="0">
                <a:solidFill>
                  <a:srgbClr val="767676"/>
                </a:solidFill>
                <a:effectLst/>
                <a:latin typeface="Arial" panose="020B0604020202020204" pitchFamily="34" charset="0"/>
              </a:rPr>
              <a:t>DVC was designed to solve a common machine learning problem:</a:t>
            </a:r>
          </a:p>
          <a:p>
            <a:pPr lvl="1"/>
            <a:r>
              <a:rPr lang="en-US" b="1" i="0" dirty="0">
                <a:solidFill>
                  <a:srgbClr val="767676"/>
                </a:solidFill>
                <a:effectLst/>
                <a:latin typeface="Arial" panose="020B0604020202020204" pitchFamily="34" charset="0"/>
              </a:rPr>
              <a:t>Git works well for code, but not for large datasets and model files.</a:t>
            </a:r>
          </a:p>
          <a:p>
            <a:r>
              <a:rPr lang="en-US" b="1" i="0" dirty="0">
                <a:solidFill>
                  <a:srgbClr val="767676"/>
                </a:solidFill>
                <a:effectLst/>
                <a:latin typeface="Arial" panose="020B0604020202020204" pitchFamily="34" charset="0"/>
              </a:rPr>
              <a:t>Open-source version control system</a:t>
            </a:r>
            <a:r>
              <a:rPr lang="en-US" b="0" i="0" dirty="0">
                <a:solidFill>
                  <a:srgbClr val="474747"/>
                </a:solidFill>
                <a:effectLst/>
                <a:latin typeface="Arial" panose="020B0604020202020204" pitchFamily="34" charset="0"/>
              </a:rPr>
              <a:t> for Data Science and Machine Learning projects. </a:t>
            </a:r>
          </a:p>
          <a:p>
            <a:r>
              <a:rPr lang="en-US" b="0" i="0" dirty="0">
                <a:solidFill>
                  <a:srgbClr val="474747"/>
                </a:solidFill>
                <a:effectLst/>
                <a:latin typeface="Arial" panose="020B0604020202020204" pitchFamily="34" charset="0"/>
              </a:rPr>
              <a:t>Git-like experience to organize your data, models, and experiments.</a:t>
            </a:r>
          </a:p>
          <a:p>
            <a:r>
              <a:rPr lang="en-IN" dirty="0">
                <a:hlinkClick r:id="rId2"/>
              </a:rPr>
              <a:t>https://dvc.org/</a:t>
            </a:r>
            <a:endParaRPr lang="en-US" dirty="0">
              <a:solidFill>
                <a:srgbClr val="474747"/>
              </a:solidFill>
              <a:latin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6981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B1F73-140D-F126-EF3C-B40368FEC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not use Git for datasets?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AD351-959B-7A78-5520-1089F301F9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Git can track datasets, but it is </a:t>
            </a:r>
            <a:r>
              <a:rPr lang="en-US" b="1" dirty="0"/>
              <a:t>not efficient</a:t>
            </a:r>
            <a:r>
              <a:rPr lang="en-US" dirty="0"/>
              <a:t> for: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large files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frequently changing datasets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model checkpoints </a:t>
            </a:r>
          </a:p>
          <a:p>
            <a:r>
              <a:rPr lang="en-US" dirty="0"/>
              <a:t>Repositories become very large and slow.</a:t>
            </a:r>
          </a:p>
          <a:p>
            <a:r>
              <a:rPr lang="en-US" dirty="0"/>
              <a:t>DVC solves this problem.</a:t>
            </a:r>
          </a:p>
          <a:p>
            <a:r>
              <a:rPr lang="en-US" dirty="0"/>
              <a:t>Git tracks </a:t>
            </a:r>
            <a:r>
              <a:rPr lang="en-US" b="1" dirty="0">
                <a:solidFill>
                  <a:srgbClr val="00B0F0"/>
                </a:solidFill>
              </a:rPr>
              <a:t>code</a:t>
            </a:r>
            <a:r>
              <a:rPr lang="en-US" dirty="0"/>
              <a:t>, while DVC tracks  corresponding </a:t>
            </a:r>
            <a:r>
              <a:rPr lang="en-US" b="1" dirty="0">
                <a:solidFill>
                  <a:srgbClr val="00B0F0"/>
                </a:solidFill>
              </a:rPr>
              <a:t>datasets and models </a:t>
            </a:r>
            <a:r>
              <a:rPr lang="en-US" dirty="0"/>
              <a:t>so machine learning experiments can be reproduced easily</a:t>
            </a:r>
          </a:p>
          <a:p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C46FB16-703E-0467-19D9-75C04CCBB5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F901BF4-CC4B-3664-D69C-5CB5BD28E8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D424E07-4C25-A85C-D035-9AAF3FDFB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30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442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DA581-400D-BEA4-6D04-7DE4F7326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Hands-On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FEBB8-6B22-7EA3-A316-2FEF543F8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https://github.com/azad712/MLFlow-demo.git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22536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18FA2-02DA-47E4-4EF9-1B515863A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Complete Story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AC198-18B1-F92C-38BE-6CAF00060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 err="1"/>
              <a:t>MLflow</a:t>
            </a:r>
            <a:r>
              <a:rPr lang="en-US" sz="4000" b="1" dirty="0"/>
              <a:t> </a:t>
            </a:r>
            <a:r>
              <a:rPr lang="en-US" sz="4000" dirty="0"/>
              <a:t>tracks </a:t>
            </a:r>
            <a:r>
              <a:rPr lang="en-US" sz="4000" b="1" dirty="0">
                <a:solidFill>
                  <a:srgbClr val="0070C0"/>
                </a:solidFill>
              </a:rPr>
              <a:t>experiments</a:t>
            </a:r>
            <a:br>
              <a:rPr lang="en-US" sz="4000" b="1" dirty="0">
                <a:solidFill>
                  <a:srgbClr val="0070C0"/>
                </a:solidFill>
              </a:rPr>
            </a:br>
            <a:r>
              <a:rPr lang="en-US" sz="4000" b="1" dirty="0"/>
              <a:t>DVC </a:t>
            </a:r>
            <a:r>
              <a:rPr lang="en-US" sz="4000" dirty="0"/>
              <a:t>tracks </a:t>
            </a:r>
            <a:r>
              <a:rPr lang="en-US" sz="4000" b="1" dirty="0">
                <a:solidFill>
                  <a:srgbClr val="0070C0"/>
                </a:solidFill>
              </a:rPr>
              <a:t>datasets</a:t>
            </a:r>
            <a:br>
              <a:rPr lang="en-US" sz="4000" dirty="0"/>
            </a:br>
            <a:r>
              <a:rPr lang="en-US" sz="4000" b="1" dirty="0"/>
              <a:t>Git</a:t>
            </a:r>
            <a:r>
              <a:rPr lang="en-US" sz="4000" dirty="0"/>
              <a:t> tracks </a:t>
            </a:r>
            <a:r>
              <a:rPr lang="en-US" sz="4000" b="1" dirty="0">
                <a:solidFill>
                  <a:srgbClr val="0070C0"/>
                </a:solidFill>
              </a:rPr>
              <a:t>code</a:t>
            </a:r>
            <a:endParaRPr lang="en-IN" sz="40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10703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2297</TotalTime>
  <Words>424</Words>
  <Application>Microsoft Office PowerPoint</Application>
  <PresentationFormat>Widescreen</PresentationFormat>
  <Paragraphs>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Garamond</vt:lpstr>
      <vt:lpstr>Organic</vt:lpstr>
      <vt:lpstr>     </vt:lpstr>
      <vt:lpstr>Challenges in Managing Machine Learning Experiments</vt:lpstr>
      <vt:lpstr>Challenges in ML Contd…</vt:lpstr>
      <vt:lpstr>What is MLflow?</vt:lpstr>
      <vt:lpstr>PowerPoint Presentation</vt:lpstr>
      <vt:lpstr>Hands-On</vt:lpstr>
      <vt:lpstr>DVC (Data Version Control)</vt:lpstr>
      <vt:lpstr>Why not use Git for datasets?</vt:lpstr>
      <vt:lpstr>Hands-On</vt:lpstr>
      <vt:lpstr>Complete Story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51</cp:revision>
  <dcterms:created xsi:type="dcterms:W3CDTF">2026-04-16T17:09:13Z</dcterms:created>
  <dcterms:modified xsi:type="dcterms:W3CDTF">2026-04-21T12:48:29Z</dcterms:modified>
</cp:coreProperties>
</file>